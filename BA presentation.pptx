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Poppins Heavy" charset="1" panose="00000A00000000000000"/>
      <p:regular r:id="rId19"/>
    </p:embeddedFont>
    <p:embeddedFont>
      <p:font typeface="Poppins" charset="1" panose="00000500000000000000"/>
      <p:regular r:id="rId20"/>
    </p:embeddedFont>
    <p:embeddedFont>
      <p:font typeface="Neoneon" charset="1" panose="02000503000000000000"/>
      <p:regular r:id="rId21"/>
    </p:embeddedFont>
    <p:embeddedFont>
      <p:font typeface="Para" charset="1" panose="00000000000000000000"/>
      <p:regular r:id="rId22"/>
    </p:embeddedFont>
    <p:embeddedFont>
      <p:font typeface="HK Modular" charset="1" panose="00000800000000000000"/>
      <p:regular r:id="rId23"/>
    </p:embeddedFont>
    <p:embeddedFont>
      <p:font typeface="Lato Bold" charset="1" panose="020F0502020204030203"/>
      <p:regular r:id="rId24"/>
    </p:embeddedFont>
    <p:embeddedFont>
      <p:font typeface="Harlow" charset="1" panose="02000505020000020003"/>
      <p:regular r:id="rId25"/>
    </p:embeddedFont>
    <p:embeddedFont>
      <p:font typeface="Mokoto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1.jpe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4.jpe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3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40.jpe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jpeg" Type="http://schemas.openxmlformats.org/officeDocument/2006/relationships/image"/><Relationship Id="rId3" Target="../media/image11.jpeg" Type="http://schemas.openxmlformats.org/officeDocument/2006/relationships/image"/><Relationship Id="rId4" Target="../media/image14.jpeg" Type="http://schemas.openxmlformats.org/officeDocument/2006/relationships/image"/><Relationship Id="rId5" Target="../media/image43.jpeg" Type="http://schemas.openxmlformats.org/officeDocument/2006/relationships/image"/><Relationship Id="rId6" Target="../media/image3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FDFC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30615" y="8343911"/>
            <a:ext cx="6434625" cy="1064638"/>
          </a:xfrm>
          <a:custGeom>
            <a:avLst/>
            <a:gdLst/>
            <a:ahLst/>
            <a:cxnLst/>
            <a:rect r="r" b="b" t="t" l="l"/>
            <a:pathLst>
              <a:path h="1064638" w="6434625">
                <a:moveTo>
                  <a:pt x="0" y="0"/>
                </a:moveTo>
                <a:lnTo>
                  <a:pt x="6434625" y="0"/>
                </a:lnTo>
                <a:lnTo>
                  <a:pt x="6434625" y="1064638"/>
                </a:lnTo>
                <a:lnTo>
                  <a:pt x="0" y="1064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462220" y="8343911"/>
            <a:ext cx="6434625" cy="1064638"/>
          </a:xfrm>
          <a:custGeom>
            <a:avLst/>
            <a:gdLst/>
            <a:ahLst/>
            <a:cxnLst/>
            <a:rect r="r" b="b" t="t" l="l"/>
            <a:pathLst>
              <a:path h="1064638" w="6434625">
                <a:moveTo>
                  <a:pt x="0" y="0"/>
                </a:moveTo>
                <a:lnTo>
                  <a:pt x="6434625" y="0"/>
                </a:lnTo>
                <a:lnTo>
                  <a:pt x="6434625" y="1064638"/>
                </a:lnTo>
                <a:lnTo>
                  <a:pt x="0" y="1064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81414" y="2183021"/>
            <a:ext cx="6792774" cy="6669269"/>
          </a:xfrm>
          <a:custGeom>
            <a:avLst/>
            <a:gdLst/>
            <a:ahLst/>
            <a:cxnLst/>
            <a:rect r="r" b="b" t="t" l="l"/>
            <a:pathLst>
              <a:path h="6669269" w="6792774">
                <a:moveTo>
                  <a:pt x="0" y="0"/>
                </a:moveTo>
                <a:lnTo>
                  <a:pt x="6792773" y="0"/>
                </a:lnTo>
                <a:lnTo>
                  <a:pt x="6792773" y="6669269"/>
                </a:lnTo>
                <a:lnTo>
                  <a:pt x="0" y="66692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028680" y="2683215"/>
            <a:ext cx="5547845" cy="554784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5093" y="276241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Magizhchi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5093" y="677879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1E171D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96267" y="1698169"/>
            <a:ext cx="8268973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75"/>
              </a:lnSpc>
            </a:pPr>
            <a:r>
              <a:rPr lang="en-US" sz="11396">
                <a:solidFill>
                  <a:srgbClr val="1E171D"/>
                </a:solidFill>
                <a:latin typeface="Neoneon"/>
                <a:ea typeface="Neoneon"/>
                <a:cs typeface="Neoneon"/>
                <a:sym typeface="Neoneon"/>
              </a:rPr>
              <a:t>BUSINESS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12440" y="3174211"/>
            <a:ext cx="8268973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51"/>
              </a:lnSpc>
            </a:pPr>
            <a:r>
              <a:rPr lang="en-US" sz="10626">
                <a:solidFill>
                  <a:srgbClr val="1E171D"/>
                </a:solidFill>
                <a:latin typeface="Neoneon"/>
                <a:ea typeface="Neoneon"/>
                <a:cs typeface="Neoneon"/>
                <a:sym typeface="Neoneon"/>
              </a:rPr>
              <a:t>ANALYST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5093" y="5547370"/>
            <a:ext cx="7318587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DFCFA"/>
                </a:solidFill>
                <a:latin typeface="Para"/>
                <a:ea typeface="Para"/>
                <a:cs typeface="Para"/>
                <a:sym typeface="Para"/>
              </a:rPr>
              <a:t>Business  analyst helps improve business by analyzing data from various departments, including Marketing, Sales, Accounts, Finance, Operations, HR, Management and Strategy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3131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30615" y="7916720"/>
            <a:ext cx="6434625" cy="1064638"/>
          </a:xfrm>
          <a:custGeom>
            <a:avLst/>
            <a:gdLst/>
            <a:ahLst/>
            <a:cxnLst/>
            <a:rect r="r" b="b" t="t" l="l"/>
            <a:pathLst>
              <a:path h="1064638" w="6434625">
                <a:moveTo>
                  <a:pt x="0" y="0"/>
                </a:moveTo>
                <a:lnTo>
                  <a:pt x="6434625" y="0"/>
                </a:lnTo>
                <a:lnTo>
                  <a:pt x="6434625" y="1064638"/>
                </a:lnTo>
                <a:lnTo>
                  <a:pt x="0" y="1064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462220" y="7916720"/>
            <a:ext cx="6434625" cy="1064638"/>
          </a:xfrm>
          <a:custGeom>
            <a:avLst/>
            <a:gdLst/>
            <a:ahLst/>
            <a:cxnLst/>
            <a:rect r="r" b="b" t="t" l="l"/>
            <a:pathLst>
              <a:path h="1064638" w="6434625">
                <a:moveTo>
                  <a:pt x="0" y="0"/>
                </a:moveTo>
                <a:lnTo>
                  <a:pt x="6434625" y="0"/>
                </a:lnTo>
                <a:lnTo>
                  <a:pt x="6434625" y="1064638"/>
                </a:lnTo>
                <a:lnTo>
                  <a:pt x="0" y="1064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1387" y="792712"/>
            <a:ext cx="4832578" cy="4744713"/>
          </a:xfrm>
          <a:custGeom>
            <a:avLst/>
            <a:gdLst/>
            <a:ahLst/>
            <a:cxnLst/>
            <a:rect r="r" b="b" t="t" l="l"/>
            <a:pathLst>
              <a:path h="4744713" w="4832578">
                <a:moveTo>
                  <a:pt x="0" y="0"/>
                </a:moveTo>
                <a:lnTo>
                  <a:pt x="4832578" y="0"/>
                </a:lnTo>
                <a:lnTo>
                  <a:pt x="4832578" y="4744713"/>
                </a:lnTo>
                <a:lnTo>
                  <a:pt x="0" y="47447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00618" y="1268010"/>
            <a:ext cx="3794117" cy="379411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66" t="0" r="-36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2606" y="2586069"/>
            <a:ext cx="8268973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75"/>
              </a:lnSpc>
            </a:pPr>
            <a:r>
              <a:rPr lang="en-US" sz="11396">
                <a:solidFill>
                  <a:srgbClr val="1E171D"/>
                </a:solidFill>
                <a:latin typeface="Neoneon"/>
                <a:ea typeface="Neoneon"/>
                <a:cs typeface="Neoneon"/>
                <a:sym typeface="Neoneon"/>
              </a:rPr>
              <a:t>MAGIZHCHI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66773" y="4081052"/>
            <a:ext cx="8268973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11"/>
              </a:lnSpc>
            </a:pPr>
            <a:r>
              <a:rPr lang="en-US" sz="11425">
                <a:solidFill>
                  <a:srgbClr val="1E171D"/>
                </a:solidFill>
                <a:latin typeface="Neoneon"/>
                <a:ea typeface="Neoneon"/>
                <a:cs typeface="Neoneon"/>
                <a:sym typeface="Neoneon"/>
              </a:rPr>
              <a:t>SOFTWARE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DE59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13248" y="2261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FDFC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33497" y="2789302"/>
            <a:ext cx="10088756" cy="9905324"/>
          </a:xfrm>
          <a:custGeom>
            <a:avLst/>
            <a:gdLst/>
            <a:ahLst/>
            <a:cxnLst/>
            <a:rect r="r" b="b" t="t" l="l"/>
            <a:pathLst>
              <a:path h="9905324" w="10088756">
                <a:moveTo>
                  <a:pt x="0" y="0"/>
                </a:moveTo>
                <a:lnTo>
                  <a:pt x="10088756" y="0"/>
                </a:lnTo>
                <a:lnTo>
                  <a:pt x="10088756" y="9905323"/>
                </a:lnTo>
                <a:lnTo>
                  <a:pt x="0" y="9905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564422" y="3810994"/>
            <a:ext cx="8170824" cy="817082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true" flipV="false" rot="0">
            <a:off x="-1879495" y="8258680"/>
            <a:ext cx="10011099" cy="1474362"/>
          </a:xfrm>
          <a:custGeom>
            <a:avLst/>
            <a:gdLst/>
            <a:ahLst/>
            <a:cxnLst/>
            <a:rect r="r" b="b" t="t" l="l"/>
            <a:pathLst>
              <a:path h="1474362" w="10011099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534747" y="9468866"/>
            <a:ext cx="132088" cy="1320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065561" y="9600954"/>
            <a:ext cx="132088" cy="13208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162318" y="309105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5322" y="276241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Magizhchi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5322" y="702698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1E171D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19658" y="933450"/>
            <a:ext cx="6598051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40"/>
              </a:lnSpc>
            </a:pPr>
            <a:r>
              <a:rPr lang="en-US" sz="9700">
                <a:solidFill>
                  <a:srgbClr val="1E171D"/>
                </a:solidFill>
                <a:latin typeface="Neoneon"/>
                <a:ea typeface="Neoneon"/>
                <a:cs typeface="Neoneon"/>
                <a:sym typeface="Neoneon"/>
              </a:rPr>
              <a:t>MARKETING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586698"/>
            <a:ext cx="6353499" cy="469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Identify target students (school finishers, graduates, job-seekers).</a:t>
            </a:r>
          </a:p>
          <a:p>
            <a:pPr algn="just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Promote through social media, workshops, posters.</a:t>
            </a:r>
          </a:p>
          <a:p>
            <a:pPr algn="just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Build instit</a:t>
            </a:r>
            <a:r>
              <a:rPr lang="en-US" sz="26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ute brand with success stories.</a:t>
            </a:r>
          </a:p>
          <a:p>
            <a:pPr algn="just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T</a:t>
            </a:r>
            <a:r>
              <a:rPr lang="en-US" sz="26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rack leads and responses from promotions.</a:t>
            </a:r>
          </a:p>
          <a:p>
            <a:pPr algn="just">
              <a:lnSpc>
                <a:spcPts val="3779"/>
              </a:lnSpc>
            </a:pP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C52FF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FDFC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2658912" y="1944905"/>
            <a:ext cx="9541721" cy="9368235"/>
          </a:xfrm>
          <a:custGeom>
            <a:avLst/>
            <a:gdLst/>
            <a:ahLst/>
            <a:cxnLst/>
            <a:rect r="r" b="b" t="t" l="l"/>
            <a:pathLst>
              <a:path h="9368235" w="9541721">
                <a:moveTo>
                  <a:pt x="0" y="0"/>
                </a:moveTo>
                <a:lnTo>
                  <a:pt x="9541722" y="0"/>
                </a:lnTo>
                <a:lnTo>
                  <a:pt x="9541722" y="9368235"/>
                </a:lnTo>
                <a:lnTo>
                  <a:pt x="0" y="9368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784544" y="2732529"/>
            <a:ext cx="7792986" cy="779298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000" t="0" r="-2500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815893" y="8110694"/>
            <a:ext cx="11261083" cy="1658450"/>
          </a:xfrm>
          <a:custGeom>
            <a:avLst/>
            <a:gdLst/>
            <a:ahLst/>
            <a:cxnLst/>
            <a:rect r="r" b="b" t="t" l="l"/>
            <a:pathLst>
              <a:path h="1658450" w="11261083">
                <a:moveTo>
                  <a:pt x="0" y="0"/>
                </a:moveTo>
                <a:lnTo>
                  <a:pt x="11261084" y="0"/>
                </a:lnTo>
                <a:lnTo>
                  <a:pt x="11261084" y="1658450"/>
                </a:lnTo>
                <a:lnTo>
                  <a:pt x="0" y="1658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815893" y="9637056"/>
            <a:ext cx="132088" cy="1320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50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461648" y="9471785"/>
            <a:ext cx="132088" cy="13208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50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0087" y="276241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Magizhchi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0087" y="637060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1E171D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84393" y="1120685"/>
            <a:ext cx="9699320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75"/>
              </a:lnSpc>
            </a:pPr>
            <a:r>
              <a:rPr lang="en-US" sz="11396">
                <a:solidFill>
                  <a:srgbClr val="1E171D"/>
                </a:solidFill>
                <a:latin typeface="Neoneon"/>
                <a:ea typeface="Neoneon"/>
                <a:cs typeface="Neoneon"/>
                <a:sym typeface="Neoneon"/>
              </a:rPr>
              <a:t>SALES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46867" y="3276438"/>
            <a:ext cx="8415554" cy="3957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Train mentors to explain course benefits clearly</a:t>
            </a:r>
          </a:p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Use demo classes to convert leads</a:t>
            </a:r>
          </a:p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C</a:t>
            </a:r>
            <a:r>
              <a:rPr lang="en-US" sz="27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onvert inquiries into admissions.</a:t>
            </a:r>
          </a:p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P</a:t>
            </a:r>
            <a:r>
              <a:rPr lang="en-US" sz="27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rovide detailed course counseling.</a:t>
            </a:r>
          </a:p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Offer flexible fee structures.</a:t>
            </a:r>
          </a:p>
          <a:p>
            <a:pPr algn="just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Maintain follow-up system for students and parents.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C52FF">
                <a:alpha val="100000"/>
              </a:srgbClr>
            </a:gs>
            <a:gs pos="100000">
              <a:srgbClr val="5CE1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62422" y="333391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47330" y="8560527"/>
            <a:ext cx="18288000" cy="2370507"/>
          </a:xfrm>
          <a:custGeom>
            <a:avLst/>
            <a:gdLst/>
            <a:ahLst/>
            <a:cxnLst/>
            <a:rect r="r" b="b" t="t" l="l"/>
            <a:pathLst>
              <a:path h="2370507" w="18288000">
                <a:moveTo>
                  <a:pt x="0" y="0"/>
                </a:moveTo>
                <a:lnTo>
                  <a:pt x="18288000" y="0"/>
                </a:lnTo>
                <a:lnTo>
                  <a:pt x="18288000" y="2370508"/>
                </a:lnTo>
                <a:lnTo>
                  <a:pt x="0" y="2370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2224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3640" y="2447222"/>
            <a:ext cx="5293617" cy="5197369"/>
          </a:xfrm>
          <a:custGeom>
            <a:avLst/>
            <a:gdLst/>
            <a:ahLst/>
            <a:cxnLst/>
            <a:rect r="r" b="b" t="t" l="l"/>
            <a:pathLst>
              <a:path h="5197369" w="5293617">
                <a:moveTo>
                  <a:pt x="0" y="0"/>
                </a:moveTo>
                <a:lnTo>
                  <a:pt x="5293616" y="0"/>
                </a:lnTo>
                <a:lnTo>
                  <a:pt x="5293616" y="5197369"/>
                </a:lnTo>
                <a:lnTo>
                  <a:pt x="0" y="5197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3022565"/>
            <a:ext cx="4046682" cy="404668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8888" t="0" r="-3888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011491" y="408694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07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1605" y="276241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magizhchi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1605" y="702698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1E171D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93448" y="1248607"/>
            <a:ext cx="8268973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75"/>
              </a:lnSpc>
            </a:pPr>
            <a:r>
              <a:rPr lang="en-US" sz="11396">
                <a:solidFill>
                  <a:srgbClr val="050505"/>
                </a:solidFill>
                <a:latin typeface="Neoneon"/>
                <a:ea typeface="Neoneon"/>
                <a:cs typeface="Neoneon"/>
                <a:sym typeface="Neoneon"/>
              </a:rPr>
              <a:t>ACCOUNTS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92068" y="4443556"/>
            <a:ext cx="8270354" cy="335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285" indent="-334642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Record all income (fees, registration).</a:t>
            </a:r>
          </a:p>
          <a:p>
            <a:pPr algn="just" marL="669285" indent="-334642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Record all expenses (rent, salary, electricity).</a:t>
            </a:r>
          </a:p>
          <a:p>
            <a:pPr algn="just" marL="669285" indent="-334642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Track pending dues and fee installments.</a:t>
            </a:r>
          </a:p>
          <a:p>
            <a:pPr algn="just" marL="669285" indent="-334642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Gener</a:t>
            </a:r>
            <a:r>
              <a:rPr lang="en-US" sz="30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ate monthly financial reports.</a:t>
            </a:r>
          </a:p>
          <a:p>
            <a:pPr algn="just" marL="0" indent="0" lvl="0">
              <a:lnSpc>
                <a:spcPts val="51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FDFC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7916493"/>
            <a:ext cx="18288000" cy="2370507"/>
          </a:xfrm>
          <a:custGeom>
            <a:avLst/>
            <a:gdLst/>
            <a:ahLst/>
            <a:cxnLst/>
            <a:rect r="r" b="b" t="t" l="l"/>
            <a:pathLst>
              <a:path h="2370507" w="18288000">
                <a:moveTo>
                  <a:pt x="0" y="0"/>
                </a:moveTo>
                <a:lnTo>
                  <a:pt x="18288000" y="0"/>
                </a:lnTo>
                <a:lnTo>
                  <a:pt x="18288000" y="2370507"/>
                </a:lnTo>
                <a:lnTo>
                  <a:pt x="0" y="2370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22246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4962" y="2018037"/>
            <a:ext cx="5742151" cy="5637748"/>
          </a:xfrm>
          <a:custGeom>
            <a:avLst/>
            <a:gdLst/>
            <a:ahLst/>
            <a:cxnLst/>
            <a:rect r="r" b="b" t="t" l="l"/>
            <a:pathLst>
              <a:path h="5637748" w="5742151">
                <a:moveTo>
                  <a:pt x="0" y="0"/>
                </a:moveTo>
                <a:lnTo>
                  <a:pt x="5742151" y="0"/>
                </a:lnTo>
                <a:lnTo>
                  <a:pt x="5742151" y="5637748"/>
                </a:lnTo>
                <a:lnTo>
                  <a:pt x="0" y="56377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67434" y="2492024"/>
            <a:ext cx="4689772" cy="4689772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25059" t="0" r="-25059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220" y="40107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magizhchi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220" y="735562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42706" y="2102015"/>
            <a:ext cx="8268973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5"/>
              </a:lnSpc>
            </a:pPr>
            <a:r>
              <a:rPr lang="en-US" sz="11596">
                <a:solidFill>
                  <a:srgbClr val="050505"/>
                </a:solidFill>
                <a:latin typeface="Neoneon"/>
                <a:ea typeface="Neoneon"/>
                <a:cs typeface="Neoneon"/>
                <a:sym typeface="Neoneon"/>
              </a:rPr>
              <a:t>FINANCE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32339" y="5045240"/>
            <a:ext cx="8270354" cy="2846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Plan yearly budget for institute growth.</a:t>
            </a:r>
          </a:p>
          <a:p>
            <a:pPr algn="just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Allocate funds for marketing, operations, and salaries.</a:t>
            </a:r>
          </a:p>
          <a:p>
            <a:pPr algn="just" marL="582927" indent="-291463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Save money for future expansion (new branches).</a:t>
            </a:r>
          </a:p>
          <a:p>
            <a:pPr algn="just" marL="582927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Maintain st</a:t>
            </a:r>
            <a:r>
              <a:rPr lang="en-US" sz="26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rong financial stability and reserves.</a:t>
            </a:r>
          </a:p>
          <a:p>
            <a:pPr algn="just" marL="0" indent="0" lvl="0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C52FF">
                <a:alpha val="100000"/>
              </a:srgbClr>
            </a:gs>
            <a:gs pos="100000">
              <a:srgbClr val="00BF6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002716">
            <a:off x="-5254607" y="-6443278"/>
            <a:ext cx="12888958" cy="9397222"/>
          </a:xfrm>
          <a:custGeom>
            <a:avLst/>
            <a:gdLst/>
            <a:ahLst/>
            <a:cxnLst/>
            <a:rect r="r" b="b" t="t" l="l"/>
            <a:pathLst>
              <a:path h="9397222" w="12888958">
                <a:moveTo>
                  <a:pt x="0" y="0"/>
                </a:moveTo>
                <a:lnTo>
                  <a:pt x="12888958" y="0"/>
                </a:lnTo>
                <a:lnTo>
                  <a:pt x="12888958" y="9397222"/>
                </a:lnTo>
                <a:lnTo>
                  <a:pt x="0" y="9397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072495" y="333391"/>
            <a:ext cx="1919429" cy="587579"/>
            <a:chOff x="0" y="0"/>
            <a:chExt cx="505529" cy="1547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54753"/>
            </a:xfrm>
            <a:custGeom>
              <a:avLst/>
              <a:gdLst/>
              <a:ahLst/>
              <a:cxnLst/>
              <a:rect r="r" b="b" t="t" l="l"/>
              <a:pathLst>
                <a:path h="154753" w="505529">
                  <a:moveTo>
                    <a:pt x="77377" y="0"/>
                  </a:moveTo>
                  <a:lnTo>
                    <a:pt x="428152" y="0"/>
                  </a:lnTo>
                  <a:cubicBezTo>
                    <a:pt x="470886" y="0"/>
                    <a:pt x="505529" y="34643"/>
                    <a:pt x="505529" y="77377"/>
                  </a:cubicBezTo>
                  <a:lnTo>
                    <a:pt x="505529" y="77377"/>
                  </a:lnTo>
                  <a:cubicBezTo>
                    <a:pt x="505529" y="97898"/>
                    <a:pt x="497377" y="117579"/>
                    <a:pt x="482866" y="132090"/>
                  </a:cubicBezTo>
                  <a:cubicBezTo>
                    <a:pt x="468355" y="146601"/>
                    <a:pt x="448674" y="154753"/>
                    <a:pt x="428152" y="154753"/>
                  </a:cubicBezTo>
                  <a:lnTo>
                    <a:pt x="77377" y="154753"/>
                  </a:lnTo>
                  <a:cubicBezTo>
                    <a:pt x="56855" y="154753"/>
                    <a:pt x="37174" y="146601"/>
                    <a:pt x="22663" y="132090"/>
                  </a:cubicBezTo>
                  <a:cubicBezTo>
                    <a:pt x="8152" y="117579"/>
                    <a:pt x="0" y="97898"/>
                    <a:pt x="0" y="77377"/>
                  </a:cubicBezTo>
                  <a:lnTo>
                    <a:pt x="0" y="77377"/>
                  </a:lnTo>
                  <a:cubicBezTo>
                    <a:pt x="0" y="56855"/>
                    <a:pt x="8152" y="37174"/>
                    <a:pt x="22663" y="22663"/>
                  </a:cubicBezTo>
                  <a:cubicBezTo>
                    <a:pt x="37174" y="8152"/>
                    <a:pt x="56855" y="0"/>
                    <a:pt x="7737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5529" cy="211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667374" y="7293954"/>
            <a:ext cx="12888958" cy="9397222"/>
          </a:xfrm>
          <a:custGeom>
            <a:avLst/>
            <a:gdLst/>
            <a:ahLst/>
            <a:cxnLst/>
            <a:rect r="r" b="b" t="t" l="l"/>
            <a:pathLst>
              <a:path h="9397222" w="12888958">
                <a:moveTo>
                  <a:pt x="0" y="0"/>
                </a:moveTo>
                <a:lnTo>
                  <a:pt x="12888958" y="0"/>
                </a:lnTo>
                <a:lnTo>
                  <a:pt x="12888958" y="9397222"/>
                </a:lnTo>
                <a:lnTo>
                  <a:pt x="0" y="9397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9872" y="2431536"/>
            <a:ext cx="6423648" cy="6306855"/>
          </a:xfrm>
          <a:custGeom>
            <a:avLst/>
            <a:gdLst/>
            <a:ahLst/>
            <a:cxnLst/>
            <a:rect r="r" b="b" t="t" l="l"/>
            <a:pathLst>
              <a:path h="6306855" w="6423648">
                <a:moveTo>
                  <a:pt x="0" y="0"/>
                </a:moveTo>
                <a:lnTo>
                  <a:pt x="6423648" y="0"/>
                </a:lnTo>
                <a:lnTo>
                  <a:pt x="6423648" y="6306854"/>
                </a:lnTo>
                <a:lnTo>
                  <a:pt x="0" y="63068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31294" y="2920949"/>
            <a:ext cx="5246370" cy="524637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53727" t="0" r="-1868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321565" y="443485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07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8940" y="276241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magizhchi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8940" y="637060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28173" y="1445698"/>
            <a:ext cx="8344894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99"/>
              </a:lnSpc>
            </a:pPr>
            <a:r>
              <a:rPr lang="en-US" sz="11499">
                <a:solidFill>
                  <a:srgbClr val="1E171D"/>
                </a:solidFill>
                <a:latin typeface="Neoneon"/>
                <a:ea typeface="Neoneon"/>
                <a:cs typeface="Neoneon"/>
                <a:sym typeface="Neoneon"/>
              </a:rPr>
              <a:t>OPERATION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3797438"/>
            <a:ext cx="7177565" cy="411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Plan class schedules and trainers properly.</a:t>
            </a:r>
          </a:p>
          <a:p>
            <a:pPr algn="just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Maintain classrooms.</a:t>
            </a:r>
          </a:p>
          <a:p>
            <a:pPr algn="just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Track student attendance and course progress.</a:t>
            </a:r>
          </a:p>
          <a:p>
            <a:pPr algn="just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Solve day-to-day issues quickly.</a:t>
            </a:r>
          </a:p>
          <a:p>
            <a:pPr algn="just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Provide placement support and practice sessions.</a:t>
            </a:r>
          </a:p>
          <a:p>
            <a:pPr algn="just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Ensure smooth running of all batches.</a:t>
            </a:r>
          </a:p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E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002716">
            <a:off x="-5706822" y="-7107953"/>
            <a:ext cx="12888958" cy="9397222"/>
          </a:xfrm>
          <a:custGeom>
            <a:avLst/>
            <a:gdLst/>
            <a:ahLst/>
            <a:cxnLst/>
            <a:rect r="r" b="b" t="t" l="l"/>
            <a:pathLst>
              <a:path h="9397222" w="12888958">
                <a:moveTo>
                  <a:pt x="0" y="0"/>
                </a:moveTo>
                <a:lnTo>
                  <a:pt x="12888958" y="0"/>
                </a:lnTo>
                <a:lnTo>
                  <a:pt x="12888958" y="9397222"/>
                </a:lnTo>
                <a:lnTo>
                  <a:pt x="0" y="9397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74928" y="326876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225384" y="8327546"/>
            <a:ext cx="12888958" cy="9397222"/>
          </a:xfrm>
          <a:custGeom>
            <a:avLst/>
            <a:gdLst/>
            <a:ahLst/>
            <a:cxnLst/>
            <a:rect r="r" b="b" t="t" l="l"/>
            <a:pathLst>
              <a:path h="9397222" w="12888958">
                <a:moveTo>
                  <a:pt x="0" y="0"/>
                </a:moveTo>
                <a:lnTo>
                  <a:pt x="12888957" y="0"/>
                </a:lnTo>
                <a:lnTo>
                  <a:pt x="12888957" y="9397222"/>
                </a:lnTo>
                <a:lnTo>
                  <a:pt x="0" y="9397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221064"/>
            <a:ext cx="6423648" cy="6306855"/>
          </a:xfrm>
          <a:custGeom>
            <a:avLst/>
            <a:gdLst/>
            <a:ahLst/>
            <a:cxnLst/>
            <a:rect r="r" b="b" t="t" l="l"/>
            <a:pathLst>
              <a:path h="6306855" w="6423648">
                <a:moveTo>
                  <a:pt x="0" y="0"/>
                </a:moveTo>
                <a:lnTo>
                  <a:pt x="6423648" y="0"/>
                </a:lnTo>
                <a:lnTo>
                  <a:pt x="6423648" y="6306855"/>
                </a:lnTo>
                <a:lnTo>
                  <a:pt x="0" y="63068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17339" y="2751306"/>
            <a:ext cx="5246370" cy="524637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16666" t="0" r="-16666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223998" y="402179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08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3353" y="269726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magizhchi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3353" y="66901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1E171D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00394" y="656179"/>
            <a:ext cx="8344894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79"/>
              </a:lnSpc>
            </a:pPr>
            <a:r>
              <a:rPr lang="en-US" sz="11899">
                <a:solidFill>
                  <a:srgbClr val="1E171D"/>
                </a:solidFill>
                <a:latin typeface="Neoneon"/>
                <a:ea typeface="Neoneon"/>
                <a:cs typeface="Neoneon"/>
                <a:sym typeface="Neoneon"/>
              </a:rPr>
              <a:t>HR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97364" y="3296136"/>
            <a:ext cx="7177565" cy="56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Recruit skilled trainers and support staff.</a:t>
            </a:r>
          </a:p>
          <a:p>
            <a:pPr algn="just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Co</a:t>
            </a:r>
            <a:r>
              <a:rPr lang="en-US" sz="31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nduct staff orientation and training.</a:t>
            </a:r>
          </a:p>
          <a:p>
            <a:pPr algn="just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Handle attendance, payroll, and leaves.</a:t>
            </a:r>
          </a:p>
          <a:p>
            <a:pPr algn="just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M</a:t>
            </a:r>
            <a:r>
              <a:rPr lang="en-US" sz="31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otivate staff with rewards and recognition.</a:t>
            </a:r>
          </a:p>
          <a:p>
            <a:pPr algn="just">
              <a:lnSpc>
                <a:spcPts val="4059"/>
              </a:lnSpc>
            </a:pPr>
          </a:p>
          <a:p>
            <a:pPr algn="just" marL="0" indent="0" lvl="0">
              <a:lnSpc>
                <a:spcPts val="51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B2D9F">
                <a:alpha val="100000"/>
              </a:srgbClr>
            </a:gs>
            <a:gs pos="100000">
              <a:srgbClr val="FDD82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047225">
            <a:off x="12780182" y="-7560731"/>
            <a:ext cx="15496850" cy="11298612"/>
          </a:xfrm>
          <a:custGeom>
            <a:avLst/>
            <a:gdLst/>
            <a:ahLst/>
            <a:cxnLst/>
            <a:rect r="r" b="b" t="t" l="l"/>
            <a:pathLst>
              <a:path h="11298612" w="15496850">
                <a:moveTo>
                  <a:pt x="0" y="0"/>
                </a:moveTo>
                <a:lnTo>
                  <a:pt x="15496850" y="0"/>
                </a:lnTo>
                <a:lnTo>
                  <a:pt x="15496850" y="11298612"/>
                </a:lnTo>
                <a:lnTo>
                  <a:pt x="0" y="11298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47773" y="326876"/>
            <a:ext cx="1919429" cy="566532"/>
            <a:chOff x="0" y="0"/>
            <a:chExt cx="505529" cy="149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FDFCF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208440" y="8372729"/>
            <a:ext cx="6434625" cy="1064638"/>
          </a:xfrm>
          <a:custGeom>
            <a:avLst/>
            <a:gdLst/>
            <a:ahLst/>
            <a:cxnLst/>
            <a:rect r="r" b="b" t="t" l="l"/>
            <a:pathLst>
              <a:path h="1064638" w="6434625">
                <a:moveTo>
                  <a:pt x="0" y="0"/>
                </a:moveTo>
                <a:lnTo>
                  <a:pt x="6434625" y="0"/>
                </a:lnTo>
                <a:lnTo>
                  <a:pt x="6434625" y="1064638"/>
                </a:lnTo>
                <a:lnTo>
                  <a:pt x="0" y="1064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635707" y="8372729"/>
            <a:ext cx="6434625" cy="1064638"/>
          </a:xfrm>
          <a:custGeom>
            <a:avLst/>
            <a:gdLst/>
            <a:ahLst/>
            <a:cxnLst/>
            <a:rect r="r" b="b" t="t" l="l"/>
            <a:pathLst>
              <a:path h="1064638" w="6434625">
                <a:moveTo>
                  <a:pt x="0" y="0"/>
                </a:moveTo>
                <a:lnTo>
                  <a:pt x="6434625" y="0"/>
                </a:lnTo>
                <a:lnTo>
                  <a:pt x="6434625" y="1064638"/>
                </a:lnTo>
                <a:lnTo>
                  <a:pt x="0" y="1064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07378" y="5143500"/>
            <a:ext cx="7662413" cy="7523097"/>
          </a:xfrm>
          <a:custGeom>
            <a:avLst/>
            <a:gdLst/>
            <a:ahLst/>
            <a:cxnLst/>
            <a:rect r="r" b="b" t="t" l="l"/>
            <a:pathLst>
              <a:path h="7523097" w="7662413">
                <a:moveTo>
                  <a:pt x="0" y="0"/>
                </a:moveTo>
                <a:lnTo>
                  <a:pt x="7662413" y="0"/>
                </a:lnTo>
                <a:lnTo>
                  <a:pt x="7662413" y="7523097"/>
                </a:lnTo>
                <a:lnTo>
                  <a:pt x="0" y="75230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127253" y="6193716"/>
            <a:ext cx="5422665" cy="542266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38920" t="0" r="-3892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6196842" y="432040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 spc="3" strike="noStrike" u="none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09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1605" y="399176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magizhchi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1605" y="836258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050505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44887" y="2901880"/>
            <a:ext cx="5998179" cy="4998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Set monthly targets for admission and revenue</a:t>
            </a:r>
          </a:p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Monitor each department’s performance</a:t>
            </a:r>
          </a:p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Plan regular review meetings with staff</a:t>
            </a:r>
          </a:p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Introduce new courses based on market trends</a:t>
            </a:r>
          </a:p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Focus on student placement and industry tie-ups</a:t>
            </a:r>
          </a:p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Think long term: new branches, online programs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3545195" y="686040"/>
            <a:ext cx="8614565" cy="179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46"/>
              </a:lnSpc>
            </a:pPr>
            <a:r>
              <a:rPr lang="en-US" sz="11121">
                <a:solidFill>
                  <a:srgbClr val="1E171D"/>
                </a:solidFill>
                <a:latin typeface="Neoneon"/>
                <a:ea typeface="Neoneon"/>
                <a:cs typeface="Neoneon"/>
                <a:sym typeface="Neoneon"/>
              </a:rPr>
              <a:t>MANAGEMENT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64679" y="494121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FDFCF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96344" y="2163733"/>
            <a:ext cx="10725909" cy="10530893"/>
          </a:xfrm>
          <a:custGeom>
            <a:avLst/>
            <a:gdLst/>
            <a:ahLst/>
            <a:cxnLst/>
            <a:rect r="r" b="b" t="t" l="l"/>
            <a:pathLst>
              <a:path h="10530893" w="10725909">
                <a:moveTo>
                  <a:pt x="0" y="0"/>
                </a:moveTo>
                <a:lnTo>
                  <a:pt x="10725909" y="0"/>
                </a:lnTo>
                <a:lnTo>
                  <a:pt x="10725909" y="10530892"/>
                </a:lnTo>
                <a:lnTo>
                  <a:pt x="0" y="10530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18388" y="2937776"/>
            <a:ext cx="8760145" cy="876014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8297" t="0" r="-28297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true" flipV="false" rot="0">
            <a:off x="-1841395" y="8048208"/>
            <a:ext cx="10011099" cy="1474362"/>
          </a:xfrm>
          <a:custGeom>
            <a:avLst/>
            <a:gdLst/>
            <a:ahLst/>
            <a:cxnLst/>
            <a:rect r="r" b="b" t="t" l="l"/>
            <a:pathLst>
              <a:path h="1474362" w="10011099">
                <a:moveTo>
                  <a:pt x="10011100" y="0"/>
                </a:moveTo>
                <a:lnTo>
                  <a:pt x="0" y="0"/>
                </a:lnTo>
                <a:lnTo>
                  <a:pt x="0" y="1474362"/>
                </a:lnTo>
                <a:lnTo>
                  <a:pt x="10011100" y="1474362"/>
                </a:lnTo>
                <a:lnTo>
                  <a:pt x="100111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468702" y="9267825"/>
            <a:ext cx="132088" cy="13208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999517" y="9427951"/>
            <a:ext cx="132088" cy="13208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013748" y="586963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04286"/>
                </a:solidFill>
                <a:latin typeface="Poppins Bold"/>
                <a:ea typeface="Poppins Bold"/>
                <a:cs typeface="Poppins Bold"/>
                <a:sym typeface="Poppins Bold"/>
              </a:rPr>
              <a:t>Page 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2652" y="385747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magizhchi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2652" y="836258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1E171D"/>
                </a:solidFill>
                <a:latin typeface="Poppins"/>
                <a:ea typeface="Poppins"/>
                <a:cs typeface="Poppins"/>
                <a:sym typeface="Poppins"/>
              </a:rPr>
              <a:t>software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64155" y="840963"/>
            <a:ext cx="6761509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79"/>
              </a:lnSpc>
            </a:pPr>
            <a:r>
              <a:rPr lang="en-US" sz="11899">
                <a:solidFill>
                  <a:srgbClr val="1E171D"/>
                </a:solidFill>
                <a:latin typeface="Neoneon"/>
                <a:ea typeface="Neoneon"/>
                <a:cs typeface="Neoneon"/>
                <a:sym typeface="Neoneon"/>
              </a:rPr>
              <a:t>STRATEGY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64515" y="3255636"/>
            <a:ext cx="6353499" cy="518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Plan for long-term growth and expansion.</a:t>
            </a:r>
          </a:p>
          <a:p>
            <a:pPr algn="just" marL="539748" indent="-269874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Decide what courses to launch based on demand.</a:t>
            </a:r>
          </a:p>
          <a:p>
            <a:pPr algn="just" marL="539748" indent="-269874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Study competitors and stay ahead.</a:t>
            </a:r>
          </a:p>
          <a:p>
            <a:pPr algn="just" marL="539748" indent="-269874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Use student feedback to improve strategy.</a:t>
            </a:r>
          </a:p>
          <a:p>
            <a:pPr algn="just" marL="539748" indent="-269874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Focus on building strong partnerships (schools, companies).</a:t>
            </a:r>
          </a:p>
          <a:p>
            <a:pPr algn="just" marL="539748" indent="-269874" lvl="1">
              <a:lnSpc>
                <a:spcPts val="3499"/>
              </a:lnSpc>
              <a:spcBef>
                <a:spcPct val="0"/>
              </a:spcBef>
              <a:buAutoNum type="arabicPeriod" startAt="1"/>
            </a:pPr>
            <a:r>
              <a:rPr lang="en-US" sz="2499">
                <a:solidFill>
                  <a:srgbClr val="FFFFFF"/>
                </a:solidFill>
                <a:latin typeface="Para"/>
                <a:ea typeface="Para"/>
                <a:cs typeface="Para"/>
                <a:sym typeface="Para"/>
              </a:rPr>
              <a:t>Monitor results and adjust plans as needed.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DE59">
                <a:alpha val="100000"/>
              </a:srgbClr>
            </a:gs>
            <a:gs pos="100000">
              <a:srgbClr val="FF914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114723" y="3356318"/>
            <a:ext cx="3690937" cy="3229570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2539" y="0"/>
              <a:ext cx="647721" cy="589475"/>
            </a:xfrm>
            <a:custGeom>
              <a:avLst/>
              <a:gdLst/>
              <a:ahLst/>
              <a:cxnLst/>
              <a:rect r="r" b="b" t="t" l="l"/>
              <a:pathLst>
                <a:path h="589475" w="647721">
                  <a:moveTo>
                    <a:pt x="427929" y="529082"/>
                  </a:moveTo>
                  <a:lnTo>
                    <a:pt x="626193" y="182118"/>
                  </a:lnTo>
                  <a:cubicBezTo>
                    <a:pt x="647722" y="144444"/>
                    <a:pt x="647567" y="98158"/>
                    <a:pt x="625788" y="60628"/>
                  </a:cubicBezTo>
                  <a:cubicBezTo>
                    <a:pt x="604008" y="23098"/>
                    <a:pt x="563898" y="0"/>
                    <a:pt x="520506" y="0"/>
                  </a:cubicBezTo>
                  <a:lnTo>
                    <a:pt x="127216" y="0"/>
                  </a:lnTo>
                  <a:cubicBezTo>
                    <a:pt x="83824" y="0"/>
                    <a:pt x="43714" y="23098"/>
                    <a:pt x="21934" y="60628"/>
                  </a:cubicBezTo>
                  <a:cubicBezTo>
                    <a:pt x="155" y="98158"/>
                    <a:pt x="0" y="144444"/>
                    <a:pt x="21529" y="182118"/>
                  </a:cubicBezTo>
                  <a:lnTo>
                    <a:pt x="219793" y="529082"/>
                  </a:lnTo>
                  <a:cubicBezTo>
                    <a:pt x="241134" y="566427"/>
                    <a:pt x="280848" y="589475"/>
                    <a:pt x="323861" y="589475"/>
                  </a:cubicBezTo>
                  <a:cubicBezTo>
                    <a:pt x="366874" y="589475"/>
                    <a:pt x="406588" y="566427"/>
                    <a:pt x="427929" y="529082"/>
                  </a:cubicBez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79088" y="4714162"/>
            <a:ext cx="1562207" cy="156220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7341543" y="3356318"/>
            <a:ext cx="3690937" cy="3229570"/>
            <a:chOff x="0" y="0"/>
            <a:chExt cx="812800" cy="71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2539" y="0"/>
              <a:ext cx="647721" cy="589475"/>
            </a:xfrm>
            <a:custGeom>
              <a:avLst/>
              <a:gdLst/>
              <a:ahLst/>
              <a:cxnLst/>
              <a:rect r="r" b="b" t="t" l="l"/>
              <a:pathLst>
                <a:path h="589475" w="647721">
                  <a:moveTo>
                    <a:pt x="427929" y="529082"/>
                  </a:moveTo>
                  <a:lnTo>
                    <a:pt x="626193" y="182118"/>
                  </a:lnTo>
                  <a:cubicBezTo>
                    <a:pt x="647722" y="144444"/>
                    <a:pt x="647567" y="98158"/>
                    <a:pt x="625788" y="60628"/>
                  </a:cubicBezTo>
                  <a:cubicBezTo>
                    <a:pt x="604008" y="23098"/>
                    <a:pt x="563898" y="0"/>
                    <a:pt x="520506" y="0"/>
                  </a:cubicBezTo>
                  <a:lnTo>
                    <a:pt x="127216" y="0"/>
                  </a:lnTo>
                  <a:cubicBezTo>
                    <a:pt x="83824" y="0"/>
                    <a:pt x="43714" y="23098"/>
                    <a:pt x="21934" y="60628"/>
                  </a:cubicBezTo>
                  <a:cubicBezTo>
                    <a:pt x="155" y="98158"/>
                    <a:pt x="0" y="144444"/>
                    <a:pt x="21529" y="182118"/>
                  </a:cubicBezTo>
                  <a:lnTo>
                    <a:pt x="219793" y="529082"/>
                  </a:lnTo>
                  <a:cubicBezTo>
                    <a:pt x="241134" y="566427"/>
                    <a:pt x="280848" y="589475"/>
                    <a:pt x="323861" y="589475"/>
                  </a:cubicBezTo>
                  <a:cubicBezTo>
                    <a:pt x="366874" y="589475"/>
                    <a:pt x="406588" y="566427"/>
                    <a:pt x="427929" y="529082"/>
                  </a:cubicBezTo>
                  <a:close/>
                </a:path>
              </a:pathLst>
            </a:custGeom>
            <a:solidFill>
              <a:srgbClr val="A1B4A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05908" y="4714162"/>
            <a:ext cx="1562207" cy="156220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54953" y="6416500"/>
            <a:ext cx="3690937" cy="3229570"/>
            <a:chOff x="0" y="0"/>
            <a:chExt cx="8128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82539" y="0"/>
              <a:ext cx="647721" cy="589475"/>
            </a:xfrm>
            <a:custGeom>
              <a:avLst/>
              <a:gdLst/>
              <a:ahLst/>
              <a:cxnLst/>
              <a:rect r="r" b="b" t="t" l="l"/>
              <a:pathLst>
                <a:path h="589475" w="647721">
                  <a:moveTo>
                    <a:pt x="427929" y="529082"/>
                  </a:moveTo>
                  <a:lnTo>
                    <a:pt x="626193" y="182118"/>
                  </a:lnTo>
                  <a:cubicBezTo>
                    <a:pt x="647722" y="144444"/>
                    <a:pt x="647567" y="98158"/>
                    <a:pt x="625788" y="60628"/>
                  </a:cubicBezTo>
                  <a:cubicBezTo>
                    <a:pt x="604008" y="23098"/>
                    <a:pt x="563898" y="0"/>
                    <a:pt x="520506" y="0"/>
                  </a:cubicBezTo>
                  <a:lnTo>
                    <a:pt x="127216" y="0"/>
                  </a:lnTo>
                  <a:cubicBezTo>
                    <a:pt x="83824" y="0"/>
                    <a:pt x="43714" y="23098"/>
                    <a:pt x="21934" y="60628"/>
                  </a:cubicBezTo>
                  <a:cubicBezTo>
                    <a:pt x="155" y="98158"/>
                    <a:pt x="0" y="144444"/>
                    <a:pt x="21529" y="182118"/>
                  </a:cubicBezTo>
                  <a:lnTo>
                    <a:pt x="219793" y="529082"/>
                  </a:lnTo>
                  <a:cubicBezTo>
                    <a:pt x="241134" y="566427"/>
                    <a:pt x="280848" y="589475"/>
                    <a:pt x="323861" y="589475"/>
                  </a:cubicBezTo>
                  <a:cubicBezTo>
                    <a:pt x="366874" y="589475"/>
                    <a:pt x="406588" y="566427"/>
                    <a:pt x="427929" y="529082"/>
                  </a:cubicBez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10800000">
            <a:off x="13568363" y="3356318"/>
            <a:ext cx="3690937" cy="3229570"/>
            <a:chOff x="0" y="0"/>
            <a:chExt cx="812800" cy="711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82539" y="0"/>
              <a:ext cx="647721" cy="589475"/>
            </a:xfrm>
            <a:custGeom>
              <a:avLst/>
              <a:gdLst/>
              <a:ahLst/>
              <a:cxnLst/>
              <a:rect r="r" b="b" t="t" l="l"/>
              <a:pathLst>
                <a:path h="589475" w="647721">
                  <a:moveTo>
                    <a:pt x="427929" y="529082"/>
                  </a:moveTo>
                  <a:lnTo>
                    <a:pt x="626193" y="182118"/>
                  </a:lnTo>
                  <a:cubicBezTo>
                    <a:pt x="647722" y="144444"/>
                    <a:pt x="647567" y="98158"/>
                    <a:pt x="625788" y="60628"/>
                  </a:cubicBezTo>
                  <a:cubicBezTo>
                    <a:pt x="604008" y="23098"/>
                    <a:pt x="563898" y="0"/>
                    <a:pt x="520506" y="0"/>
                  </a:cubicBezTo>
                  <a:lnTo>
                    <a:pt x="127216" y="0"/>
                  </a:lnTo>
                  <a:cubicBezTo>
                    <a:pt x="83824" y="0"/>
                    <a:pt x="43714" y="23098"/>
                    <a:pt x="21934" y="60628"/>
                  </a:cubicBezTo>
                  <a:cubicBezTo>
                    <a:pt x="155" y="98158"/>
                    <a:pt x="0" y="144444"/>
                    <a:pt x="21529" y="182118"/>
                  </a:cubicBezTo>
                  <a:lnTo>
                    <a:pt x="219793" y="529082"/>
                  </a:lnTo>
                  <a:cubicBezTo>
                    <a:pt x="241134" y="566427"/>
                    <a:pt x="280848" y="589475"/>
                    <a:pt x="323861" y="589475"/>
                  </a:cubicBezTo>
                  <a:cubicBezTo>
                    <a:pt x="366874" y="589475"/>
                    <a:pt x="406588" y="566427"/>
                    <a:pt x="427929" y="529082"/>
                  </a:cubicBezTo>
                  <a:close/>
                </a:path>
              </a:pathLst>
            </a:custGeom>
            <a:solidFill>
              <a:srgbClr val="9E8C9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228133" y="6416500"/>
            <a:ext cx="3690937" cy="3229570"/>
            <a:chOff x="0" y="0"/>
            <a:chExt cx="812800" cy="711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82539" y="0"/>
              <a:ext cx="647721" cy="589475"/>
            </a:xfrm>
            <a:custGeom>
              <a:avLst/>
              <a:gdLst/>
              <a:ahLst/>
              <a:cxnLst/>
              <a:rect r="r" b="b" t="t" l="l"/>
              <a:pathLst>
                <a:path h="589475" w="647721">
                  <a:moveTo>
                    <a:pt x="427929" y="529082"/>
                  </a:moveTo>
                  <a:lnTo>
                    <a:pt x="626193" y="182118"/>
                  </a:lnTo>
                  <a:cubicBezTo>
                    <a:pt x="647722" y="144444"/>
                    <a:pt x="647567" y="98158"/>
                    <a:pt x="625788" y="60628"/>
                  </a:cubicBezTo>
                  <a:cubicBezTo>
                    <a:pt x="604008" y="23098"/>
                    <a:pt x="563898" y="0"/>
                    <a:pt x="520506" y="0"/>
                  </a:cubicBezTo>
                  <a:lnTo>
                    <a:pt x="127216" y="0"/>
                  </a:lnTo>
                  <a:cubicBezTo>
                    <a:pt x="83824" y="0"/>
                    <a:pt x="43714" y="23098"/>
                    <a:pt x="21934" y="60628"/>
                  </a:cubicBezTo>
                  <a:cubicBezTo>
                    <a:pt x="155" y="98158"/>
                    <a:pt x="0" y="144444"/>
                    <a:pt x="21529" y="182118"/>
                  </a:cubicBezTo>
                  <a:lnTo>
                    <a:pt x="219793" y="529082"/>
                  </a:lnTo>
                  <a:cubicBezTo>
                    <a:pt x="241134" y="566427"/>
                    <a:pt x="280848" y="589475"/>
                    <a:pt x="323861" y="589475"/>
                  </a:cubicBezTo>
                  <a:cubicBezTo>
                    <a:pt x="366874" y="589475"/>
                    <a:pt x="406588" y="566427"/>
                    <a:pt x="427929" y="529082"/>
                  </a:cubicBez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292498" y="6727519"/>
            <a:ext cx="1562207" cy="156220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632728" y="4714162"/>
            <a:ext cx="1562207" cy="156220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519318" y="6727519"/>
            <a:ext cx="1562207" cy="1562207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1458076" y="6727519"/>
            <a:ext cx="1623449" cy="1562207"/>
          </a:xfrm>
          <a:custGeom>
            <a:avLst/>
            <a:gdLst/>
            <a:ahLst/>
            <a:cxnLst/>
            <a:rect r="r" b="b" t="t" l="l"/>
            <a:pathLst>
              <a:path h="1562207" w="1623449">
                <a:moveTo>
                  <a:pt x="0" y="0"/>
                </a:moveTo>
                <a:lnTo>
                  <a:pt x="1623449" y="0"/>
                </a:lnTo>
                <a:lnTo>
                  <a:pt x="1623449" y="1562207"/>
                </a:lnTo>
                <a:lnTo>
                  <a:pt x="0" y="1562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65" t="0" r="-16037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2176357" y="4721666"/>
            <a:ext cx="1562503" cy="1562503"/>
          </a:xfrm>
          <a:custGeom>
            <a:avLst/>
            <a:gdLst/>
            <a:ahLst/>
            <a:cxnLst/>
            <a:rect r="r" b="b" t="t" l="l"/>
            <a:pathLst>
              <a:path h="1562503" w="1562503">
                <a:moveTo>
                  <a:pt x="0" y="0"/>
                </a:moveTo>
                <a:lnTo>
                  <a:pt x="1562503" y="0"/>
                </a:lnTo>
                <a:lnTo>
                  <a:pt x="1562503" y="1562503"/>
                </a:lnTo>
                <a:lnTo>
                  <a:pt x="0" y="1562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5261877" y="6727519"/>
            <a:ext cx="1623449" cy="1587838"/>
          </a:xfrm>
          <a:custGeom>
            <a:avLst/>
            <a:gdLst/>
            <a:ahLst/>
            <a:cxnLst/>
            <a:rect r="r" b="b" t="t" l="l"/>
            <a:pathLst>
              <a:path h="1587838" w="1623449">
                <a:moveTo>
                  <a:pt x="0" y="0"/>
                </a:moveTo>
                <a:lnTo>
                  <a:pt x="1623449" y="0"/>
                </a:lnTo>
                <a:lnTo>
                  <a:pt x="1623449" y="1587838"/>
                </a:lnTo>
                <a:lnTo>
                  <a:pt x="0" y="1587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6709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8359727" y="4700894"/>
            <a:ext cx="1651041" cy="1575475"/>
          </a:xfrm>
          <a:custGeom>
            <a:avLst/>
            <a:gdLst/>
            <a:ahLst/>
            <a:cxnLst/>
            <a:rect r="r" b="b" t="t" l="l"/>
            <a:pathLst>
              <a:path h="1575475" w="1651041">
                <a:moveTo>
                  <a:pt x="0" y="0"/>
                </a:moveTo>
                <a:lnTo>
                  <a:pt x="1651041" y="0"/>
                </a:lnTo>
                <a:lnTo>
                  <a:pt x="1651041" y="1575475"/>
                </a:lnTo>
                <a:lnTo>
                  <a:pt x="0" y="1575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288" t="0" r="-2596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4632728" y="4633576"/>
            <a:ext cx="1785320" cy="1710112"/>
          </a:xfrm>
          <a:custGeom>
            <a:avLst/>
            <a:gdLst/>
            <a:ahLst/>
            <a:cxnLst/>
            <a:rect r="r" b="b" t="t" l="l"/>
            <a:pathLst>
              <a:path h="1710112" w="1785320">
                <a:moveTo>
                  <a:pt x="0" y="0"/>
                </a:moveTo>
                <a:lnTo>
                  <a:pt x="1785320" y="0"/>
                </a:lnTo>
                <a:lnTo>
                  <a:pt x="1785320" y="1710111"/>
                </a:lnTo>
                <a:lnTo>
                  <a:pt x="0" y="17101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0550" t="0" r="-19798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6155552" y="954113"/>
            <a:ext cx="5363766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>
                <a:solidFill>
                  <a:srgbClr val="3C3C50"/>
                </a:solidFill>
                <a:latin typeface="HK Modular"/>
                <a:ea typeface="HK Modular"/>
                <a:cs typeface="HK Modular"/>
                <a:sym typeface="HK Modular"/>
              </a:rPr>
              <a:t>MANAGEMENT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819603" y="6811060"/>
            <a:ext cx="2244199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Marketing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393540" y="6828840"/>
            <a:ext cx="2478695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Operations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902188" y="3494547"/>
            <a:ext cx="1952516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Sales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167742" y="6616750"/>
            <a:ext cx="1952516" cy="107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Accounts &amp; Finance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302657" y="3323732"/>
            <a:ext cx="1952516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true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HR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19603" y="7726353"/>
            <a:ext cx="2408529" cy="1372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FDFCFA"/>
                </a:solidFill>
                <a:latin typeface="Para"/>
                <a:ea typeface="Para"/>
                <a:cs typeface="Para"/>
                <a:sym typeface="Para"/>
              </a:rPr>
              <a:t>Promote institute and attract students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250665" y="7823886"/>
            <a:ext cx="2408529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DFCFA"/>
                </a:solidFill>
                <a:latin typeface="Para"/>
                <a:ea typeface="Para"/>
                <a:cs typeface="Para"/>
                <a:sym typeface="Para"/>
              </a:rPr>
              <a:t>Run classes and maintain systems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805660" y="4332112"/>
            <a:ext cx="2408529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DFCFA"/>
                </a:solidFill>
                <a:latin typeface="Para"/>
                <a:ea typeface="Para"/>
                <a:cs typeface="Para"/>
                <a:sym typeface="Para"/>
              </a:rPr>
              <a:t>Convert inquiries into admissions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982747" y="7823886"/>
            <a:ext cx="2408529" cy="218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DFCFA"/>
                </a:solidFill>
                <a:latin typeface="Para"/>
                <a:ea typeface="Para"/>
                <a:cs typeface="Para"/>
                <a:sym typeface="Para"/>
              </a:rPr>
              <a:t>Record income and expenses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DFCFA"/>
                </a:solidFill>
                <a:latin typeface="Para"/>
                <a:ea typeface="Para"/>
                <a:cs typeface="Para"/>
                <a:sym typeface="Para"/>
              </a:rPr>
              <a:t>&amp;</a:t>
            </a:r>
          </a:p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DFCFA"/>
                </a:solidFill>
                <a:latin typeface="Para"/>
                <a:ea typeface="Para"/>
                <a:cs typeface="Para"/>
                <a:sym typeface="Para"/>
              </a:rPr>
              <a:t>Plan budget and manage funds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156305" y="4243939"/>
            <a:ext cx="2408529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DFCFA"/>
                </a:solidFill>
                <a:latin typeface="Para"/>
                <a:ea typeface="Para"/>
                <a:cs typeface="Para"/>
                <a:sym typeface="Para"/>
              </a:rPr>
              <a:t>Manage staff and trainers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4AAD">
                <a:alpha val="100000"/>
              </a:srgbClr>
            </a:gs>
            <a:gs pos="100000">
              <a:srgbClr val="CB6CE6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84858"/>
            <a:ext cx="8049460" cy="8049460"/>
          </a:xfrm>
          <a:custGeom>
            <a:avLst/>
            <a:gdLst/>
            <a:ahLst/>
            <a:cxnLst/>
            <a:rect r="r" b="b" t="t" l="l"/>
            <a:pathLst>
              <a:path h="8049460" w="8049460">
                <a:moveTo>
                  <a:pt x="0" y="0"/>
                </a:moveTo>
                <a:lnTo>
                  <a:pt x="8049460" y="0"/>
                </a:lnTo>
                <a:lnTo>
                  <a:pt x="8049460" y="8049460"/>
                </a:lnTo>
                <a:lnTo>
                  <a:pt x="0" y="8049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59268" y="2364574"/>
            <a:ext cx="6052875" cy="6052851"/>
            <a:chOff x="0" y="0"/>
            <a:chExt cx="6350000" cy="6349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609065" y="3325257"/>
            <a:ext cx="6650235" cy="3636486"/>
            <a:chOff x="0" y="0"/>
            <a:chExt cx="8866980" cy="484864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19050"/>
              <a:ext cx="8866980" cy="1428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</a:pPr>
              <a:r>
                <a:rPr lang="en-US" sz="6999">
                  <a:solidFill>
                    <a:srgbClr val="000000"/>
                  </a:solidFill>
                  <a:latin typeface="Harlow"/>
                  <a:ea typeface="Harlow"/>
                  <a:cs typeface="Harlow"/>
                  <a:sym typeface="Harlow"/>
                </a:rPr>
                <a:t>      </a:t>
              </a:r>
              <a:r>
                <a:rPr lang="en-US" sz="6999">
                  <a:solidFill>
                    <a:srgbClr val="000000"/>
                  </a:solidFill>
                  <a:latin typeface="Harlow"/>
                  <a:ea typeface="Harlow"/>
                  <a:cs typeface="Harlow"/>
                  <a:sym typeface="Harlow"/>
                </a:rPr>
                <a:t>Thank you!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6175" y="1982245"/>
              <a:ext cx="8820805" cy="1371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60"/>
                </a:lnSpc>
              </a:pPr>
              <a:r>
                <a:rPr lang="en-US" sz="3200">
                  <a:solidFill>
                    <a:srgbClr val="FF914D"/>
                  </a:solidFill>
                  <a:latin typeface="Mokoto"/>
                  <a:ea typeface="Mokoto"/>
                  <a:cs typeface="Mokoto"/>
                  <a:sym typeface="Mokoto"/>
                </a:rPr>
                <a:t>      EVERY DAY HAPPY DAY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349538"/>
              <a:ext cx="8866980" cy="499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DAGxK9Ds17I</dc:identifier>
  <dcterms:modified xsi:type="dcterms:W3CDTF">2011-08-01T06:04:30Z</dcterms:modified>
  <cp:revision>1</cp:revision>
  <dc:title>MAGIZHCHI</dc:title>
</cp:coreProperties>
</file>